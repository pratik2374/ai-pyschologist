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Therapy Depth (max 3)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Dr. Aria</c:v>
                  </c:pt>
                  <c:pt idx="1">
                    <c:v>Woebot</c:v>
                  </c:pt>
                  <c:pt idx="2">
                    <c:v>Wysa</c:v>
                  </c:pt>
                  <c:pt idx="3">
                    <c:v>Replika</c:v>
                  </c:pt>
                  <c:pt idx="4">
                    <c:v>Ginger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1.5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Memory (max 3)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Dr. Aria</c:v>
                  </c:pt>
                  <c:pt idx="1">
                    <c:v>Woebot</c:v>
                  </c:pt>
                  <c:pt idx="2">
                    <c:v>Wysa</c:v>
                  </c:pt>
                  <c:pt idx="3">
                    <c:v>Replika</c:v>
                  </c:pt>
                  <c:pt idx="4">
                    <c:v>Ginger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Crisis Detection (max 3)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Dr. Aria</c:v>
                  </c:pt>
                  <c:pt idx="1">
                    <c:v>Woebot</c:v>
                  </c:pt>
                  <c:pt idx="2">
                    <c:v>Wysa</c:v>
                  </c:pt>
                  <c:pt idx="3">
                    <c:v>Replika</c:v>
                  </c:pt>
                  <c:pt idx="4">
                    <c:v>Ginger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Cultural Adapt. (max 2)</c:v>
                </c:pt>
              </c:strCache>
            </c:strRef>
          </c:tx>
          <c:spPr>
            <a:solidFill>
              <a:srgbClr val="FFC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Dr. Aria</c:v>
                  </c:pt>
                  <c:pt idx="1">
                    <c:v>Woebot</c:v>
                  </c:pt>
                  <c:pt idx="2">
                    <c:v>Wysa</c:v>
                  </c:pt>
                  <c:pt idx="3">
                    <c:v>Replika</c:v>
                  </c:pt>
                  <c:pt idx="4">
                    <c:v>Ginger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Privacy (max 3)</c:v>
                </c:pt>
              </c:strCache>
            </c:strRef>
          </c:tx>
          <c:spPr>
            <a:solidFill>
              <a:srgbClr val="703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Dr. Aria</c:v>
                  </c:pt>
                  <c:pt idx="1">
                    <c:v>Woebot</c:v>
                  </c:pt>
                  <c:pt idx="2">
                    <c:v>Wysa</c:v>
                  </c:pt>
                  <c:pt idx="3">
                    <c:v>Replika</c:v>
                  </c:pt>
                  <c:pt idx="4">
                    <c:v>Ginger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0.5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548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AI-Powered Psychotherapist with Longitudinal Memory,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Multi-Modal Therapy &amp; Crisis Detection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Gond (123103006)  |  Neha Roy (123303002)  |  Kush Bohare (123103005)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 of Computer Science and Engineering  |  NIT Kurukshetra  |  April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336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Live: ai-pyschologist-production.up.railway.app  |  GitHub: github.com/pratik2374/AI-pyschologist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Health Crisis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291840" cy="1371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280M+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80136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with Depression (WHO 2023)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2624328"/>
            <a:ext cx="3291840" cy="1371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7157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301M+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33741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with Anxiety Disorders (WHO)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4197096"/>
            <a:ext cx="3291840" cy="1371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42885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4320" y="494690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Indian Adults Needing Mental Health Care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0" y="105156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051560"/>
            <a:ext cx="164592" cy="13716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1612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Shortage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60520" y="152704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&lt;0.3 psychiatrists per 100K in India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(WHO minimum: 1 per 100K)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2624328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0" y="2624328"/>
            <a:ext cx="164592" cy="13716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27340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Stigma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60520" y="309981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Collectivist shame prevents help-seeking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60%+ of cases across South Asia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4197096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0" y="4197096"/>
            <a:ext cx="164592" cy="13716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43068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Barrier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0520" y="467258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$100–300/hour for therapy sessions;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inaccessible for the majority globally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Existing AI solutions: single therapy mode · no memory · no crisis care · no cultural context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— And What's Missing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475488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1280160"/>
                <a:gridCol w="1280160"/>
                <a:gridCol w="1280160"/>
                <a:gridCol w="118872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Aria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Woebot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Therapy Modes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CBT+Humanistic+Psychoanalytic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CBT+DBT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3-tier hierarchical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4-level silent async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Cultural Adapt.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+ Hinglish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existing system combines multi-modal therapy, longitudinal memory, and non-disruptive crisis detection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 —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4297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“A warm, research-informed therapist who remembers everything, adapts her approach, and never abandons a user in crisis.”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120640"/>
            <a:ext cx="4023360" cy="228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05156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051560"/>
            <a:ext cx="137160" cy="9144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11556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9-Section Modular Prompt Corpus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5087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CBT · Humanistic · Psychoanalytic · Cultural · Crisis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103120"/>
            <a:ext cx="137160" cy="9144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1671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Hierarchical Memory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5603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Verbatim · Chapter Summaries · Longitudinal Profile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15468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3154680"/>
            <a:ext cx="137160" cy="9144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21868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Silent Crisis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611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Async · Non-disruptive · Rapport-preserving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420624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4206240"/>
            <a:ext cx="137160" cy="9144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270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AES-256-GCM Encryption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46634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 A: Server-Assisted · Mode B: Zero-Knowledge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Next.js 16  ·  Node.js/Express 5  ·  MongoDB 7.0  ·  OpenAI GPT-4o  ·  AES-256-GCM  ·  Resend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6583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37160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926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FRONTEND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Next.js 16  ·  React 19  ·  TypeScript 5  ·  Tailwind CSS  ·  SSE Streaming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84248"/>
            <a:ext cx="6583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84248"/>
            <a:ext cx="137160" cy="74980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391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BACKEND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Node.js / Express 5  ·  JWT Auth  ·  Rate Limiting  ·  CORS  ·  Helmet  ·  node-cron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54096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54096"/>
            <a:ext cx="137160" cy="9601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AI ORCHESTRATION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603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Assembler  ·  Context Builder  ·  GPT-4o Streaming  ·  Silent Observer  ·  Chapter Compressor  ·  Profile Synthesiser  ·  Weekly Reporter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315968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315968"/>
            <a:ext cx="137160" cy="8686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708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 DATABASE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6035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MongoDB 7.0  ·  users  ·  messages  ·  observations  ·  longitudinal_profiles  ·  chapter_summaries  ·  crisis_flags  ·  weekly_reports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1664208"/>
            <a:ext cx="0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566160" y="2734056"/>
            <a:ext cx="0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566160" y="4014216"/>
            <a:ext cx="0" cy="301752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32320" y="137160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78040" y="14264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1773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GPT-4o · GPT-4o-mini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32320" y="26517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78040" y="27066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3054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Weekly Email Reports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0" y="1755648"/>
            <a:ext cx="27432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dot"/>
          </a:ln>
        </p:spPr>
      </p:sp>
      <p:sp>
        <p:nvSpPr>
          <p:cNvPr id="30" name="Shape 28"/>
          <p:cNvSpPr/>
          <p:nvPr/>
        </p:nvSpPr>
        <p:spPr>
          <a:xfrm>
            <a:off x="6858000" y="3035808"/>
            <a:ext cx="2743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dot"/>
          </a:ln>
        </p:spPr>
      </p:sp>
      <p:sp>
        <p:nvSpPr>
          <p:cNvPr id="31" name="Shape 29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inter-tier communication encrypted via AES-256-GCM  ·  JWT on every request  ·  SSE for real-time streaming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Nine-Section Modular Prompt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~983 total lines of clinical knowledge · assembled in attention-priority order (Crisis section = highest salience)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71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 (118 lines)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3677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identity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30yr experience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Inquiry &gt; Advice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2344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234440"/>
            <a:ext cx="2743200" cy="347472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271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 (90 lines)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63677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jailbreak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diagnosis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Crisis constraints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2344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234440"/>
            <a:ext cx="2743200" cy="34747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271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  (94 lines)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2784" y="163677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Thought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Socratic questioning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Behavioral activation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0720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07208"/>
            <a:ext cx="2743200" cy="34747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43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Psychoanalytic  (103 lines)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2095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Defense mechanisms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Unconscious patterns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280720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2807208"/>
            <a:ext cx="2743200" cy="34747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843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Humanistic  (125 lines)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32095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Rogers UPR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Empathic reflection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Meaning-making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280720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D403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2807208"/>
            <a:ext cx="2743200" cy="347472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843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(155 lines)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72784" y="32095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Motivational Interv.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Lambert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Wampold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379976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379976"/>
            <a:ext cx="2743200" cy="34747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 (129 lines)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7823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Joint family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Hinglish support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Stigma &amp; duty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27832" y="4379976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1E6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27832" y="4379976"/>
            <a:ext cx="2743200" cy="34747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  (123 lines)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9272" y="47823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Anger · Shame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Grief · Anxiety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Hopelessness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81344" y="4379976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81344" y="4379976"/>
            <a:ext cx="274320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★  (146 lines)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72784" y="47823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4-level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Rapport-preserving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a cold redirect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 Crisis section assembled last = highest transformer attention weight. Crisis &amp; Emotions are most salient to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Hierarchical Memory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Enables unlimited therapeutic continuity without context window overflow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6858000" cy="1481328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82496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26187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—  Verbatim History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682496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Recent ~50 messages stored uncompressed · Injected directly into context window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Metadata: therapy_mode · crisis_flag · gap_duration · isArchived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6858000" cy="1481328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3300984"/>
            <a:ext cx="457200" cy="45720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880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—  Chapter Summaries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30098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50 messages → GPT-4o-mini compression pass → Narrative prose summary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Captures: key themes · emotional arc · therapeutic progress · episodic moments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407408"/>
            <a:ext cx="6858000" cy="1481328"/>
          </a:xfrm>
          <a:prstGeom prst="rect">
            <a:avLst/>
          </a:prstGeom>
          <a:solidFill>
            <a:srgbClr val="EAE0F0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4919472"/>
            <a:ext cx="457200" cy="45720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4988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—  Longitudinal Profile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91947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Synthesised every 5 observer chunks (~25 user messages) → Living clinical document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Contains: recurring themes · attachment style · what works/doesn't · risk level · progress markers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03320" y="2651760"/>
            <a:ext cx="0" cy="137160"/>
          </a:xfrm>
          <a:prstGeom prst="line">
            <a:avLst/>
          </a:prstGeom>
          <a:noFill/>
          <a:ln w="25400">
            <a:solidFill>
              <a:srgbClr val="595959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3703320" y="4270248"/>
            <a:ext cx="0" cy="137160"/>
          </a:xfrm>
          <a:prstGeom prst="line">
            <a:avLst/>
          </a:prstGeom>
          <a:noFill/>
          <a:ln w="25400">
            <a:solidFill>
              <a:srgbClr val="595959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7360920" y="1170432"/>
            <a:ext cx="1508760" cy="56875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8288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06640" y="2697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Sunday digest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injected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Mon–Sat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0" y="3200400"/>
            <a:ext cx="2286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Four-Level Crisis Detection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Silent  ·  Asynchronous  ·  Rapport-Preserving  ·  Never a Cold Redirect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1078992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457200" cy="45720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2252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Mild Distress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Signals: Elevated emotional language, passive fatigue, repeated negative framing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8653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Aria: Validates, stays present, deepens inquiry with curiosity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595360" cy="1078992"/>
          </a:xfrm>
          <a:prstGeom prst="rect">
            <a:avLst/>
          </a:prstGeom>
          <a:solidFill>
            <a:srgbClr val="FFF2CC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670048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41401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Passive Ideation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27614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Signals: "I don't want to be here" · "I wish things were different" · fatigue without plan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0540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Aria: Acknowledges pain explicitly, asks gently about safety, weaves in warmth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8595360" cy="1078992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858768"/>
            <a:ext cx="457200" cy="45720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6027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Active Ideation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05840" y="39502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Signals: Expressed desire to end life, no specific plan — "I want to die"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42428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Aria: Stays present, crisis resources injected naturally within message body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736592"/>
            <a:ext cx="8595360" cy="1078992"/>
          </a:xfrm>
          <a:prstGeom prst="rect">
            <a:avLst/>
          </a:prstGeom>
          <a:solidFill>
            <a:srgbClr val="FADBD8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5047488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7914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Imminent Risk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05840" y="5138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Signals: Specific method/timeline/intent OR repeated Level 3 signals in session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54315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Aria: Emergency contact triggered · Maximum warmth · Therapeutic presence maintained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016752"/>
            <a:ext cx="9144000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605332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resources are NEVER a rejection gateway. Dr. Aria stays warm and present at every risk level.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Dual Encryption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914400"/>
            <a:ext cx="457200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331720" y="9509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ENCRYPTION KEY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12984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64-hex chars (32 bytes) · server .env only · NEVER persisted to DB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1783080"/>
            <a:ext cx="0" cy="45720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00400" y="2240280"/>
            <a:ext cx="-210312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783080"/>
            <a:ext cx="0" cy="45720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943600" y="2240280"/>
            <a:ext cx="210312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3931920" cy="301752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40280"/>
            <a:ext cx="3931920" cy="5029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677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 — Server-Assisted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 holds per-user key (encrypted with master key)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10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✔  Weekly Reports ✔  Context Injection 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410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Ciphertext decryptable by server on read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714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for: users who want full AI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240280"/>
            <a:ext cx="3931920" cy="3017520"/>
          </a:xfrm>
          <a:prstGeom prst="rect">
            <a:avLst/>
          </a:prstGeom>
          <a:solidFill>
            <a:srgbClr val="FADBD8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240280"/>
            <a:ext cx="393192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2677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 — Zero-Knowledge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7492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Per-user key NEVER leaves client browser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410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✘  Reports ✘  (privacy tradeoff)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39410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 stores ciphertext only — completely blind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44714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for: maximum privacy, zero trust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5440680"/>
            <a:ext cx="859536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68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Format: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54681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hex_iv  :  hex_authTag  :  hex_ciphertext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8338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IV = 12 bytes (96-bit GCM)  ·  Auth Tag = 16 bytes (128-bit)  ·  Master key = 32 bytes (env only, never in DB)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Performance (21 real exchanges)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429768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0584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Metric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Median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Mean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Min / Max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TTFT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2316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2601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1320 / 7047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 Time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3041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3563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1746 / 10003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Tokens/sec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18.0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18.3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4.0 / 34.0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Resp. Tokens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52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53.7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12 / 100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160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Breakdown (12 test cases)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4572000"/>
            <a:ext cx="22860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Unsolicited Advice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06040" y="4572000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06040" y="45720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18688" y="4572000"/>
            <a:ext cx="658368" cy="2743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18688" y="4572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4910328"/>
            <a:ext cx="22860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910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Voice &amp; Tone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06040" y="4910328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06040" y="49103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18688" y="4910328"/>
            <a:ext cx="658368" cy="2743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18688" y="49103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5248656"/>
            <a:ext cx="22860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5248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Response Structure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606040" y="5248656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06040" y="52486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20/24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18688" y="5248656"/>
            <a:ext cx="658368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18688" y="52486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5586984"/>
            <a:ext cx="22860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5586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 Discipline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606040" y="5586984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606040" y="55869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17/24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18688" y="5586984"/>
            <a:ext cx="658368" cy="2743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18688" y="55869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4320" y="5925312"/>
            <a:ext cx="22860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5925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Depth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606040" y="5925312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06040" y="59253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17/24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18688" y="5925312"/>
            <a:ext cx="658368" cy="2743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18688" y="59253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800600" y="868680"/>
            <a:ext cx="40690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800600" y="868680"/>
            <a:ext cx="4069080" cy="47548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0" y="88696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 —  99/120  (82.5%)  |  NIT Kurukshetra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892040" y="150876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38928" y="1444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669280" y="1444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 Message — Opening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818120" y="144475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892040" y="1892808"/>
            <a:ext cx="201168" cy="201168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138928" y="18288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TC2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669280" y="1828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I'm Fine (Clearly Not)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818120" y="18288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892040" y="2276856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38928" y="22128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669280" y="2212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Pulling Back — Safety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818120" y="221284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892040" y="2660904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138928" y="25968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TC4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5669280" y="25968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Catastrophizing — Academic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7818120" y="259689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4892040" y="3044952"/>
            <a:ext cx="201168" cy="201168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138928" y="29809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TC5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5669280" y="29809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Anger — What's Underneath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818120" y="29809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4892040" y="342900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138928" y="3364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TC6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5669280" y="3364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Shame — Hard to Say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7818120" y="33649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4892040" y="3813048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138928" y="37490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TC7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5669280" y="3749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Existential Emptiness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7818120" y="374904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4892040" y="4197096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138928" y="41330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TC8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5669280" y="4133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Indian Cultural / Hinglish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7818120" y="413308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4892040" y="4581144"/>
            <a:ext cx="201168" cy="201168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138928" y="45171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TC9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669280" y="4517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Passive Suicidal Ideation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7818120" y="451713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4892040" y="4965192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38928" y="49011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TC10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669280" y="49011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Long Emotional Dump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7818120" y="490118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4892040" y="534924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138928" y="52852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TC11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669280" y="52852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Resistance to Reframe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7818120" y="52852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4892040" y="5733288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5138928" y="5669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TC12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5669280" y="5669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Jailbreak / Identity Test</a:t>
            </a:r>
            <a:endParaRPr lang="en-US" sz="900" dirty="0"/>
          </a:p>
        </p:txBody>
      </p:sp>
      <p:sp>
        <p:nvSpPr>
          <p:cNvPr id="87" name="Text 84"/>
          <p:cNvSpPr/>
          <p:nvPr/>
        </p:nvSpPr>
        <p:spPr>
          <a:xfrm>
            <a:off x="7818120" y="566928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Total: 99/120 = 82.5%  ·  9 PASS · 3 REVIEW · 0 FAIL  ·  Median TTFT: 2316 ms  ·  Median 18.0 tok/s  ·  NIT Kurukshetra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 vs. Existing Systems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868680"/>
            <a:ext cx="246888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Dr. Aria Has: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10528" y="141732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4848" y="135331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Multi-modal therapy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(CBT+Humanistic+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Psychoanalytic)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510528" y="192024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84848" y="18562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3-tier longitudinal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memory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10528" y="242316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84848" y="235915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4-level silent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crisis detection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510528" y="292608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84848" y="28620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India / Hinglish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cultural context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10528" y="342900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84848" y="336499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Dual AES-256-GCM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encryption modes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10528" y="393192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84848" y="386791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source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community audit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Dr. Aria is the only system scoring maximum in Therapy Depth, Memory, Crisis Detection, Cultural Adaptation, and Privacy simultaneously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Philosophy — Therapeutic Atmosphere First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889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F7A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438912"/>
          </a:xfrm>
          <a:prstGeom prst="rect">
            <a:avLst/>
          </a:prstGeom>
          <a:solidFill>
            <a:srgbClr val="5F7A6A"/>
          </a:solidFill>
          <a:ln w="12700">
            <a:solidFill>
              <a:srgbClr val="5F7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9784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The Breathing Screen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1752" y="149961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A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"Take a deep breath."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" y="1883664"/>
            <a:ext cx="2468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956816"/>
            <a:ext cx="2633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 sage-green blurred orb on warm cream (#F5F4EF). A mindfulness threshold before emotional engagement — the body decelerates before the mind can reflect. No button is prominent; the screen dissolves on touch.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4773168"/>
            <a:ext cx="2788920" cy="347472"/>
          </a:xfrm>
          <a:prstGeom prst="rect">
            <a:avLst/>
          </a:prstGeom>
          <a:solidFill>
            <a:srgbClr val="EEF4F0"/>
          </a:solidFill>
          <a:ln w="12700">
            <a:solidFill>
              <a:srgbClr val="5F7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479145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5F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psychology principle: visual stillness precedes cognitive readiness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7889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60120"/>
            <a:ext cx="278892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9784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Memory Consent Screen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27832" y="149961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"How should we remember this?"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27832" y="1883664"/>
            <a:ext cx="2468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956816"/>
            <a:ext cx="2633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 A → 'A Continuous Thread'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 B → 'The Present Moment'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Entry: 'Enter the Room'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encryption choice reframed as a relational, therapeutic consent moment.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4773168"/>
            <a:ext cx="2788920" cy="347472"/>
          </a:xfrm>
          <a:prstGeom prst="rect">
            <a:avLst/>
          </a:prstGeom>
          <a:solidFill>
            <a:srgbClr val="EEF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479145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 as emotional agency, not cryptographic spec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0760" y="960120"/>
            <a:ext cx="27889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4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960120"/>
            <a:ext cx="2788920" cy="438912"/>
          </a:xfrm>
          <a:prstGeom prst="rect">
            <a:avLst/>
          </a:prstGeom>
          <a:solidFill>
            <a:srgbClr val="3D4A3A"/>
          </a:solidFill>
          <a:ln w="12700">
            <a:solidFill>
              <a:srgbClr val="3D4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3912" y="9784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Chat as Handwritten Diary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53912" y="149961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4A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"ARIA IS PRESENT"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53912" y="1883664"/>
            <a:ext cx="2468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1956816"/>
            <a:ext cx="2633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messages in cursive script on cream paper — no chat bubbles. Dr. Aria: left-aligned dark script. User: right-indented light italic. Placeholder: 'Take your time...' Send: 'Share'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avatars, typing indicators, or read receipts.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4773168"/>
            <a:ext cx="2788920" cy="347472"/>
          </a:xfrm>
          <a:prstGeom prst="rect">
            <a:avLst/>
          </a:prstGeom>
          <a:solidFill>
            <a:srgbClr val="EEF4F0"/>
          </a:solidFill>
          <a:ln w="12700">
            <a:solidFill>
              <a:srgbClr val="3D4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479145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3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Low-barrier disclosure environment — relational space, not productivity tool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5F7A6A"/>
          </a:solidFill>
          <a:ln w="12700">
            <a:solidFill>
              <a:srgbClr val="5F7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Color: warm cream #F5F4EF  ·  Typography: cursive script  ·  No bubbles · No avatars · No read receipts  ·  Low-barrier disclosure environment [Kim et al., 2023]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7548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170992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5727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9-section modular prompt corpus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19202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CBT + Humanistic + Psychoanalytic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4144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3042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hierarchical memory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26517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therapeutic continuity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7296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0358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silent crisis detection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33832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 Level 3/4 false negatives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90448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37673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AES-256-GCM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" y="41148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Server-Assisted &amp; Zero-Knowledge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63600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636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44988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India-specific AI therapy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846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Joint family + Hinglish + stigma context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536752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5367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52303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99/120 = 82.5% scorecard (9 PASS, 3 REVIEW, 0 FAIL)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4672" y="55778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Median TTFT: 2316 ms · 18.0 tok/s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960120"/>
            <a:ext cx="41148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960120"/>
            <a:ext cx="4114800" cy="47548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9875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892040" y="1709928"/>
            <a:ext cx="256032" cy="25603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85232" y="15727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dependency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85232" y="192024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Commercial provider — pricing &amp; availability risk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2606040"/>
            <a:ext cx="256032" cy="25603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85232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RCT clinical validation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285232" y="281635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PHQ-9 / GAD-7 pre-post study needed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3502152"/>
            <a:ext cx="256032" cy="25603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85232" y="33649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recall 0.88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285232" y="371246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~12% miss rate on lower-level signals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92040" y="4398264"/>
            <a:ext cx="256032" cy="25603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4398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85232" y="42611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interface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285232" y="460857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Text-only limits accessibility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5294376"/>
            <a:ext cx="256032" cy="25603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5294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85232" y="51572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licensed therapist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285232" y="550468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Always communicates AI limitations to users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13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Integration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1978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Index psychological literature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evidence-based grounding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2112" y="777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777240"/>
            <a:ext cx="27432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813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73552" y="11978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Audio streaming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naturalness &amp; accessibility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9904" y="777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777240"/>
            <a:ext cx="2743200" cy="34747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813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81344" y="11978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Native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on-demand access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86000"/>
            <a:ext cx="274320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22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Evaluation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270662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PHQ-9 / GAD-7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pre-post RCT validation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82112" y="2286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2286000"/>
            <a:ext cx="2743200" cy="34747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2322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73552" y="270662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Tamil · Bengali · Telugu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9904" y="2286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286000"/>
            <a:ext cx="2743200" cy="34747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2322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API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81344" y="270662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Licensed therapist escalation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pathway integration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3931920"/>
            <a:ext cx="9144000" cy="2926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74320" y="452628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</a:t>
            </a:r>
            <a:endParaRPr lang="en-US" sz="4800" dirty="0"/>
          </a:p>
        </p:txBody>
      </p:sp>
      <p:sp>
        <p:nvSpPr>
          <p:cNvPr id="31" name="Shape 29"/>
          <p:cNvSpPr/>
          <p:nvPr/>
        </p:nvSpPr>
        <p:spPr>
          <a:xfrm>
            <a:off x="3200400" y="5376672"/>
            <a:ext cx="27432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546811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GitHub: github.com/pratik2374/AI-pyschologist  ·  Live: ai-pyschologist-production.up.railway.app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59618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Gond (123103006)  ·  Neha Roy (123303002)  ·  Kush Bohare (123103005)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6309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 of Computer Science and Engineering  |  NIT Kurukshetra  |  April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Aria — AI-Powered Psychotherapist</dc:title>
  <dc:subject>AI Psychotherapy Research Project</dc:subject>
  <dc:creator>Pratik Gond, Neha Roy, Kush Bohare</dc:creator>
  <cp:lastModifiedBy>Pratik Gond, Neha Roy, Kush Bohare</cp:lastModifiedBy>
  <cp:revision>1</cp:revision>
  <dcterms:created xsi:type="dcterms:W3CDTF">2026-04-27T09:26:24Z</dcterms:created>
  <dcterms:modified xsi:type="dcterms:W3CDTF">2026-04-27T09:26:24Z</dcterms:modified>
</cp:coreProperties>
</file>