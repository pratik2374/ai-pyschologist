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Therapy Depth (max 3)</c:v>
                </c:pt>
              </c:strCache>
            </c:strRef>
          </c:tx>
          <c:spPr>
            <a:solidFill>
              <a:srgbClr val="70AD4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1.5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Memory (max 3)</c:v>
                </c:pt>
              </c:strCache>
            </c:strRef>
          </c:tx>
          <c:spPr>
            <a:solidFill>
              <a:srgbClr val="ED7D3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Crisis Detection (max 3)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Cultural Adapt. (max 2)</c:v>
                </c:pt>
              </c:strCache>
            </c:strRef>
          </c:tx>
          <c:spPr>
            <a:solidFill>
              <a:srgbClr val="FFC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Privacy (max 3)</c:v>
                </c:pt>
              </c:strCache>
            </c:strRef>
          </c:tx>
          <c:spPr>
            <a:solidFill>
              <a:srgbClr val="7030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Dr. Aria</c:v>
                  </c:pt>
                  <c:pt idx="1">
                    <c:v>Woebot</c:v>
                  </c:pt>
                  <c:pt idx="2">
                    <c:v>Wysa</c:v>
                  </c:pt>
                  <c:pt idx="3">
                    <c:v>Replika</c:v>
                  </c:pt>
                  <c:pt idx="4">
                    <c:v>Ginger</c:v>
                  </c:pt>
                </c:lvl>
              </c:multiLvlStrCache>
            </c:multiLvl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1</c:v>
                </c:pt>
                <c:pt idx="3">
                  <c:v>0.5</c:v>
                </c:pt>
                <c:pt idx="4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3200400" y="2377440"/>
            <a:ext cx="2743200" cy="54864"/>
          </a:xfrm>
          <a:prstGeom prst="rect">
            <a:avLst/>
          </a:prstGeom>
          <a:solidFill>
            <a:srgbClr val="BDD7EE"/>
          </a:solidFill>
          <a:ln w="12700">
            <a:solidFill>
              <a:srgbClr val="BDD7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AI-Powered Psychotherapist with Longitudinal Memory,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Multi-Modal Therapy &amp; Crisis Detection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3749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DD7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Gond (123103006)  |  Neha Roy (123303002)  |  Kush Bohare (123103005)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605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 of Computer Science and Engineering  |  NIT Kurukshetra  |  April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6309360"/>
            <a:ext cx="9144000" cy="5486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63367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Live: ai-pyschologist.vercel.app  |  GitHub: github.com/pratik2374/AI-pyschologist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Health Crisis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29184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280M+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801368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with Depression (WHO 2023)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74320" y="2624328"/>
            <a:ext cx="329184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27157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301M+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4320" y="337413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People with Anxiety Disorders (WHO)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4197096"/>
            <a:ext cx="3291840" cy="1371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428853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10.6%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74320" y="4946904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Indian Adults Needing Mental Health Care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840480" y="1051560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840480" y="1051560"/>
            <a:ext cx="164592" cy="13716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1612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Shortage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60520" y="1527048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&lt;0.3 psychiatrists per 100K in India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(WHO minimum: 1 per 100K)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0" y="2624328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0" y="2624328"/>
            <a:ext cx="164592" cy="13716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0" y="273405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Stigma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60520" y="3099816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Collectivist shame prevents help-seeking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 60%+ of cases across South Asia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4197096"/>
            <a:ext cx="5029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0" y="4197096"/>
            <a:ext cx="164592" cy="13716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43068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Barrier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160520" y="4672584"/>
            <a:ext cx="4480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$100–300/hour for therapy sessions;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inaccessible for the majority globally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Existing AI solutions: single therapy mode · no memory · no crisis care · no cultural context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— And What's Missing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475488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1280160"/>
                <a:gridCol w="1280160"/>
                <a:gridCol w="1280160"/>
                <a:gridCol w="1188720"/>
              </a:tblGrid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Dr. 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AD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Woebot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Replika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5959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Therapy Modes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CBT+Humanistic+Psychoanalytic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CBT+DBT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Long-term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3-tier hierarchical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Crisis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4-level silent async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Cultural Adapt.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+ Hinglish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75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existing system combines multi-modal therapy, longitudinal memory, and non-disruptive crisis detection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 —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23360" cy="42976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“A warm, research-informed therapist who remembers everything, adapts her approach, and never abandons a user in crisis.”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5120640"/>
            <a:ext cx="4023360" cy="2286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05156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1051560"/>
            <a:ext cx="137160" cy="91440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1556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9-Section Modular Prompt Corpus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150876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CBT · Humanistic · Psychoanalytic · Cultural · Crisis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103120"/>
            <a:ext cx="137160" cy="91440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21671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Hierarchical Memory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256032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Verbatim · Chapter Summaries · Longitudinal Profile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15468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3154680"/>
            <a:ext cx="137160" cy="9144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321868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Silent Crisis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361188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Async · Non-disruptive · Rapport-preserving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4206240"/>
            <a:ext cx="4297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4206240"/>
            <a:ext cx="137160" cy="91440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427024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AES-256-GCM Encryption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46634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 A: Server-Assisted · Mode B: Zero-Knowledge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Next.js 16  ·  Node.js/Express 5  ·  MongoDB 7.0  ·  OpenAI GPT-4o  ·  AES-256-GCM  ·  Resend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6583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137160" cy="74980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9264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FRONTEND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1261872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Next.js 16  ·  React 19  ·  TypeScript 5  ·  Tailwind CSS  ·  SSE Streaming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984248"/>
            <a:ext cx="6583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984248"/>
            <a:ext cx="137160" cy="74980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3911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BACKEND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Node.js / Express 5  ·  JWT Auth  ·  Rate Limiting  ·  CORS  ·  Helmet  ·  node-cron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3054096"/>
            <a:ext cx="6583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054096"/>
            <a:ext cx="137160" cy="960120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108960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AI ORCHESTRATION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3401568"/>
            <a:ext cx="6035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Prompt Assembler  ·  Context Builder  ·  GPT-4o Streaming  ·  Silent Observer  ·  Chapter Compressor  ·  Profile Synthesiser  ·  Weekly Reporter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4315968"/>
            <a:ext cx="65836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4315968"/>
            <a:ext cx="137160" cy="86868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37083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  DATABASE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663440"/>
            <a:ext cx="6035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MongoDB 7.0  ·  users  ·  messages  ·  observations  ·  longitudinal_profiles  ·  chapter_summaries  ·  crisis_flags  ·  weekly_reports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66160" y="1664208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566160" y="2734056"/>
            <a:ext cx="0" cy="32004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566160" y="4014216"/>
            <a:ext cx="0" cy="301752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132320" y="137160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178040" y="14264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178040" y="1773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GPT-4o · GPT-4o-mini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32320" y="2651760"/>
            <a:ext cx="18288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178040" y="27066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API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78040" y="30540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Weekly Email Reports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858000" y="1755648"/>
            <a:ext cx="27432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dot"/>
          </a:ln>
        </p:spPr>
      </p:sp>
      <p:sp>
        <p:nvSpPr>
          <p:cNvPr id="30" name="Shape 28"/>
          <p:cNvSpPr/>
          <p:nvPr/>
        </p:nvSpPr>
        <p:spPr>
          <a:xfrm>
            <a:off x="6858000" y="3035808"/>
            <a:ext cx="274320" cy="0"/>
          </a:xfrm>
          <a:prstGeom prst="line">
            <a:avLst/>
          </a:prstGeom>
          <a:noFill/>
          <a:ln w="19050">
            <a:solidFill>
              <a:srgbClr val="2E75B6"/>
            </a:solidFill>
            <a:prstDash val="dot"/>
          </a:ln>
        </p:spPr>
      </p:sp>
      <p:sp>
        <p:nvSpPr>
          <p:cNvPr id="31" name="Shape 29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inter-tier communication encrypted via AES-256-GCM  ·  JWT on every request  ·  SSE for real-time streaming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Nine-Section Modular Prompt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~983 total lines of clinical knowledge · assembled in attention-priority order (Crisis section = highest salience)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27432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 (118 lines)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63677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identity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30yr experience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Inquiry &gt; Advice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27832" y="12344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455A6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234440"/>
            <a:ext cx="2743200" cy="347472"/>
          </a:xfrm>
          <a:prstGeom prst="rect">
            <a:avLst/>
          </a:prstGeom>
          <a:solidFill>
            <a:srgbClr val="455A64"/>
          </a:solidFill>
          <a:ln w="12700">
            <a:solidFill>
              <a:srgbClr val="455A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 (90 lines)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9272" y="163677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jailbreak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diagnosis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Crisis constraints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81344" y="1234440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234440"/>
            <a:ext cx="2743200" cy="34747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72784" y="12710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CBT  (94 lines)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72784" y="1636776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Thought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Socratic questioning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Behavioral activation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80720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807208"/>
            <a:ext cx="2743200" cy="34747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43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Psychoanalytic  (103 lines)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2095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Defense mechanisms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Transference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Unconscious patterns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27832" y="280720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2807208"/>
            <a:ext cx="2743200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19272" y="2843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Humanistic  (125 lines)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19272" y="32095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Rogers UPR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Empathic reflection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Meaning-making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81344" y="2807208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D403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81344" y="2807208"/>
            <a:ext cx="2743200" cy="347472"/>
          </a:xfrm>
          <a:prstGeom prst="rect">
            <a:avLst/>
          </a:prstGeom>
          <a:solidFill>
            <a:srgbClr val="5D4037"/>
          </a:solidFill>
          <a:ln w="12700">
            <a:solidFill>
              <a:srgbClr val="5D40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2843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(155 lines)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72784" y="3209544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Motivational Interv.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Lambert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Wampold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379976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379976"/>
            <a:ext cx="274320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 (129 lines)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65760" y="4782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Joint family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Hinglish support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Stigma &amp; duty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27832" y="4379976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1E6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27832" y="4379976"/>
            <a:ext cx="2743200" cy="347472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19272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Emotions  (123 lines)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319272" y="4782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Anger · Shame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Grief · Anxiety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Hopelessness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181344" y="4379976"/>
            <a:ext cx="27432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81344" y="4379976"/>
            <a:ext cx="274320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4416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★  (146 lines)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272784" y="4782312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4-level schema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Rapport-preserving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Never a cold redirect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 Crisis section assembled last = highest transformer attention weight. Crisis &amp; Emotions are most salient to the model.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Hierarchical Memory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Enables unlimited therapeutic continuity without context window overflow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6858000" cy="1481328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82496"/>
            <a:ext cx="457200" cy="457200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82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26187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—  Verbatim History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682496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Recent ~50 messages stored uncompressed · Injected directly into context window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Metadata: therapy_mode · crisis_flag · gap_duration · isArchived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788920"/>
            <a:ext cx="6858000" cy="1481328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3300984"/>
            <a:ext cx="457200" cy="45720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88036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—  Chapter Summaries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300984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50 messages → GPT-4o-mini compression pass → Narrative prose summary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Captures: key themes · emotional arc · therapeutic progress · episodic moments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4407408"/>
            <a:ext cx="6858000" cy="1481328"/>
          </a:xfrm>
          <a:prstGeom prst="rect">
            <a:avLst/>
          </a:prstGeom>
          <a:solidFill>
            <a:srgbClr val="EAE0F0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4919472"/>
            <a:ext cx="457200" cy="45720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9194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4498848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 —  Longitudinal Profile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05840" y="4919472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Synthesised every 5 observer chunks (~25 user messages) → Living clinical document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Contains: recurring themes · attachment style · what works/doesn't · risk level · progress markers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03320" y="2651760"/>
            <a:ext cx="0" cy="137160"/>
          </a:xfrm>
          <a:prstGeom prst="line">
            <a:avLst/>
          </a:prstGeom>
          <a:noFill/>
          <a:ln w="25400">
            <a:solidFill>
              <a:srgbClr val="595959"/>
            </a:solidFill>
            <a:prstDash val="sysDash"/>
          </a:ln>
        </p:spPr>
      </p:sp>
      <p:sp>
        <p:nvSpPr>
          <p:cNvPr id="21" name="Shape 19"/>
          <p:cNvSpPr/>
          <p:nvPr/>
        </p:nvSpPr>
        <p:spPr>
          <a:xfrm>
            <a:off x="3703320" y="4270248"/>
            <a:ext cx="0" cy="137160"/>
          </a:xfrm>
          <a:prstGeom prst="line">
            <a:avLst/>
          </a:prstGeom>
          <a:noFill/>
          <a:ln w="25400">
            <a:solidFill>
              <a:srgbClr val="595959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7360920" y="1170432"/>
            <a:ext cx="1508760" cy="56875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828800"/>
            <a:ext cx="1417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REPORT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06640" y="2697480"/>
            <a:ext cx="1417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Sunday digest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injected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Mon–Sat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32320" y="3200400"/>
            <a:ext cx="22860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Four-Level Crisis Detection Framework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Silent  ·  Asynchronous  ·  Rapport-Preserving  ·  Never a Cold Redirect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170432"/>
            <a:ext cx="8595360" cy="1078992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81328"/>
            <a:ext cx="457200" cy="457200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81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2252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Mild Distress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Signals: Elevated emotional language, passive fatigue, repeated negative framing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86537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Aria: Validates, stays present, deepens inquiry with curiosity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59152"/>
            <a:ext cx="8595360" cy="1078992"/>
          </a:xfrm>
          <a:prstGeom prst="rect">
            <a:avLst/>
          </a:prstGeom>
          <a:solidFill>
            <a:srgbClr val="FFF2CC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670048"/>
            <a:ext cx="457200" cy="457200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241401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— Passive Ideation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05840" y="27614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Signals: "I don't want to be here" · "I wish things were different" · fatigue without plan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0540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Aria: Acknowledges pain explicitly, asks gently about safety, weaves in warmth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8595360" cy="1078992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858768"/>
            <a:ext cx="457200" cy="457200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60273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 — Active Ideation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005840" y="39502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Signals: Expressed desire to end life, no specific plan — "I want to die"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05840" y="42428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Aria: Stays present, crisis resources injected naturally within message body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736592"/>
            <a:ext cx="8595360" cy="1078992"/>
          </a:xfrm>
          <a:prstGeom prst="rect">
            <a:avLst/>
          </a:prstGeom>
          <a:solidFill>
            <a:srgbClr val="FADBD8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11480" y="5047488"/>
            <a:ext cx="457200" cy="457200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5047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5840" y="479145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4 — Imminent Risk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005840" y="51389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Signals: Specific method/timeline/intent OR repeated Level 3 signals in session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05840" y="54315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Aria: Emergency contact triggered · Maximum warmth · Therapeutic presence maintained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6016752"/>
            <a:ext cx="9144000" cy="8412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6053328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resources are NEVER a rejection gateway. Dr. Aria stays warm and present at every risk level.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AES-256-GCM Dual Encryption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914400"/>
            <a:ext cx="4572000" cy="868680"/>
          </a:xfrm>
          <a:prstGeom prst="rect">
            <a:avLst/>
          </a:prstGeom>
          <a:solidFill>
            <a:srgbClr val="F2F2F2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331720" y="9509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03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ENCRYPTION KEY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31720" y="129844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64-hex chars (32 bytes) · server .env only · NEVER persisted to DB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783080"/>
            <a:ext cx="0" cy="45720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200400" y="2240280"/>
            <a:ext cx="-2103120" cy="0"/>
          </a:xfrm>
          <a:prstGeom prst="line">
            <a:avLst/>
          </a:prstGeom>
          <a:noFill/>
          <a:ln w="19050">
            <a:solidFill>
              <a:srgbClr val="70AD4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0" y="1783080"/>
            <a:ext cx="0" cy="457200"/>
          </a:xfrm>
          <a:prstGeom prst="line">
            <a:avLst/>
          </a:prstGeom>
          <a:noFill/>
          <a:ln w="19050">
            <a:solidFill>
              <a:srgbClr val="595959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943600" y="2240280"/>
            <a:ext cx="2103120" cy="0"/>
          </a:xfrm>
          <a:prstGeom prst="line">
            <a:avLst/>
          </a:prstGeom>
          <a:noFill/>
          <a:ln w="19050">
            <a:solidFill>
              <a:srgbClr val="C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240280"/>
            <a:ext cx="3931920" cy="3017520"/>
          </a:xfrm>
          <a:prstGeom prst="rect">
            <a:avLst/>
          </a:prstGeom>
          <a:solidFill>
            <a:srgbClr val="E2EFDA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240280"/>
            <a:ext cx="3931920" cy="5029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2677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 — Server-Assisted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 holds per-user key (encrypted with master key)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✔  Weekly Reports ✔  Context Injection 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941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Ciphertext decryptable by server on read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471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0AD4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for: users who want full AI features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2240280"/>
            <a:ext cx="3931920" cy="3017520"/>
          </a:xfrm>
          <a:prstGeom prst="rect">
            <a:avLst/>
          </a:prstGeom>
          <a:solidFill>
            <a:srgbClr val="FADBD8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240280"/>
            <a:ext cx="3931920" cy="502920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267712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B — Zero-Knowledge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074920" y="2880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Per-user key NEVER leaves client browser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341071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✘  Reports ✘  (privacy tradeoff)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394106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 stores ciphertext only — completely blind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74920" y="447141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0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for: maximum privacy, zero trust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5440680"/>
            <a:ext cx="8595360" cy="804672"/>
          </a:xfrm>
          <a:prstGeom prst="rect">
            <a:avLst/>
          </a:prstGeom>
          <a:solidFill>
            <a:srgbClr val="F2F2F2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46811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Format: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828800" y="546811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03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hex_iv  :  hex_authTag  :  hex_ciphertext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58338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IV = 12 bytes (96-bit GCM)  ·  Auth Tag = 16 bytes (128-bit)  ·  Master key = 32 bytes (env only, never in DB)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74320" y="896112"/>
            <a:ext cx="4297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Performance (21 real exchanges)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4297680" cy="274320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00584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Metric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Median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Mean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Min / Max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TTFT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2316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2601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1320 / 7047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Total Time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3041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3563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1746 / 10003 ms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Tokens/sec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18.0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18.3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4.0 / 34.0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Resp. Tokens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52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53.7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 Light" pitchFamily="34" charset="0"/>
                          <a:ea typeface="Calibri Light" pitchFamily="34" charset="-122"/>
                          <a:cs typeface="Calibri Light" pitchFamily="34" charset="-120"/>
                        </a:rPr>
                        <a:t>12 / 100</a:t>
                      </a:r>
                      <a:endParaRPr lang="en-US" sz="1050" dirty="0">
                        <a:latin typeface="Calibri Light" charset="0"/>
                        <a:ea typeface="Calibri Light" charset="0"/>
                        <a:cs typeface="Calibri Light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41605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Breakdown (12 test cases)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4572000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572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Unsolicited Advice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06040" y="4572000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06040" y="457200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18688" y="4572000"/>
            <a:ext cx="658368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18688" y="45720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4910328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0040" y="4910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Voice &amp; Tone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06040" y="4910328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06040" y="491032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22/24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3218688" y="4910328"/>
            <a:ext cx="658368" cy="27432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18688" y="491032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5248656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0040" y="5248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Response Structure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2606040" y="5248656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06040" y="524865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20/24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18688" y="5248656"/>
            <a:ext cx="658368" cy="2743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218688" y="524865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5586984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20040" y="558698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 Discipline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2606040" y="5586984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606040" y="5586984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17/24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18688" y="5586984"/>
            <a:ext cx="658368" cy="2743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18688" y="558698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74320" y="5925312"/>
            <a:ext cx="2286000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5925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Clinical Depth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2606040" y="5925312"/>
            <a:ext cx="566928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06040" y="592531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17/24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3218688" y="5925312"/>
            <a:ext cx="658368" cy="27432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218688" y="592531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70.8%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800600" y="868680"/>
            <a:ext cx="4069080" cy="5120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800600" y="868680"/>
            <a:ext cx="4069080" cy="47548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846320" y="886968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 —  99/120  (82.5%)  |  NIT Kurukshetra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892040" y="150876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138928" y="144475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5669280" y="144475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First Message — Opening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818120" y="144475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4892040" y="1892808"/>
            <a:ext cx="201168" cy="20116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138928" y="18288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TC2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5669280" y="18288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I'm Fine (Clearly Not)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7818120" y="182880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7/10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4892040" y="2276856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138928" y="221284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TC3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5669280" y="22128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Pulling Back — Safety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7818120" y="221284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892040" y="2660904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138928" y="259689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TC4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5669280" y="259689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Catastrophizing — Academic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7818120" y="259689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56" name="Shape 53"/>
          <p:cNvSpPr/>
          <p:nvPr/>
        </p:nvSpPr>
        <p:spPr>
          <a:xfrm>
            <a:off x="4892040" y="3044952"/>
            <a:ext cx="201168" cy="20116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138928" y="298094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TC5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5669280" y="298094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Anger — What's Underneath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7818120" y="298094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4892040" y="342900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138928" y="336499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TC6</a:t>
            </a:r>
            <a:endParaRPr lang="en-US" sz="900" dirty="0"/>
          </a:p>
        </p:txBody>
      </p:sp>
      <p:sp>
        <p:nvSpPr>
          <p:cNvPr id="62" name="Text 59"/>
          <p:cNvSpPr/>
          <p:nvPr/>
        </p:nvSpPr>
        <p:spPr>
          <a:xfrm>
            <a:off x="5669280" y="336499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Shame — Hard to Say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7818120" y="336499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64" name="Shape 61"/>
          <p:cNvSpPr/>
          <p:nvPr/>
        </p:nvSpPr>
        <p:spPr>
          <a:xfrm>
            <a:off x="4892040" y="3813048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138928" y="374904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TC7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5669280" y="37490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Existential Emptiness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7818120" y="374904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4892040" y="4197096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5138928" y="4133088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TC8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5669280" y="413308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Indian Cultural / Hinglish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7818120" y="4133088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8/10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4892040" y="4581144"/>
            <a:ext cx="201168" cy="201168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5138928" y="4517136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TC9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669280" y="4517136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Passive Suicidal Ideation</a:t>
            </a:r>
            <a:endParaRPr lang="en-US" sz="900" dirty="0"/>
          </a:p>
        </p:txBody>
      </p:sp>
      <p:sp>
        <p:nvSpPr>
          <p:cNvPr id="75" name="Text 72"/>
          <p:cNvSpPr/>
          <p:nvPr/>
        </p:nvSpPr>
        <p:spPr>
          <a:xfrm>
            <a:off x="7818120" y="4517136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D7D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6/10</a:t>
            </a:r>
            <a:endParaRPr lang="en-US" sz="900" dirty="0"/>
          </a:p>
        </p:txBody>
      </p:sp>
      <p:sp>
        <p:nvSpPr>
          <p:cNvPr id="76" name="Shape 73"/>
          <p:cNvSpPr/>
          <p:nvPr/>
        </p:nvSpPr>
        <p:spPr>
          <a:xfrm>
            <a:off x="4892040" y="4965192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138928" y="4901184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TC10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669280" y="4901184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Long Emotional Dump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7818120" y="4901184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80" name="Shape 77"/>
          <p:cNvSpPr/>
          <p:nvPr/>
        </p:nvSpPr>
        <p:spPr>
          <a:xfrm>
            <a:off x="4892040" y="534924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5138928" y="5285232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TC11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669280" y="5285232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Resistance to Reframe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7818120" y="5285232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4892040" y="5733288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5138928" y="5669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TC12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5669280" y="56692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Jailbreak / Identity Test</a:t>
            </a:r>
            <a:endParaRPr lang="en-US" sz="900" dirty="0"/>
          </a:p>
        </p:txBody>
      </p:sp>
      <p:sp>
        <p:nvSpPr>
          <p:cNvPr id="87" name="Text 84"/>
          <p:cNvSpPr/>
          <p:nvPr/>
        </p:nvSpPr>
        <p:spPr>
          <a:xfrm>
            <a:off x="7818120" y="566928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9/10</a:t>
            </a:r>
            <a:endParaRPr lang="en-US" sz="900" dirty="0"/>
          </a:p>
        </p:txBody>
      </p:sp>
      <p:sp>
        <p:nvSpPr>
          <p:cNvPr id="88" name="Shape 85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Total: 99/120 = 82.5%  ·  9 PASS · 3 REVIEW · 0 FAIL  ·  Median TTFT: 2316 ms  ·  Median 18.0 tok/s  ·  NIT Kurukshetra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 vs. Existing Systems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868680"/>
            <a:ext cx="2468880" cy="4114800"/>
          </a:xfrm>
          <a:prstGeom prst="rect">
            <a:avLst/>
          </a:prstGeom>
          <a:solidFill>
            <a:srgbClr val="F2F2F2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92240" y="914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0A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Dr. Aria Has: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510528" y="141732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784848" y="13533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Multi-modal therapy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(CBT+Humanistic+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Psychoanalytic)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510528" y="192024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84848" y="185623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3-tier longitudinal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memory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510528" y="242316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84848" y="235915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4-level silent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crisis detection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510528" y="292608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84848" y="286207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India / Hinglish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cultural context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510528" y="342900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84848" y="336499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Dual AES-256-GCM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encryption modes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510528" y="3931920"/>
            <a:ext cx="201168" cy="201168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784848" y="3867912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Open source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community audit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Dr. Aria is the only system scoring maximum in Therapy Depth, Memory, Crisis Detection, Cultural Adaptation, and Privacy simultaneously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 Philosophy — Therapeutic Atmosphere First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889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5F7A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438912"/>
          </a:xfrm>
          <a:prstGeom prst="rect">
            <a:avLst/>
          </a:prstGeom>
          <a:solidFill>
            <a:srgbClr val="5F7A6A"/>
          </a:solidFill>
          <a:ln w="12700">
            <a:solidFill>
              <a:srgbClr val="5F7A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1752" y="9784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The Breathing Screen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1752" y="149961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F7A6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"Take a deep breath."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752" y="1883664"/>
            <a:ext cx="2468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" y="1956816"/>
            <a:ext cx="2633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Soft sage-green blurred orb on warm cream (#F5F4EF). A mindfulness threshold before emotional engagement — the body decelerates before the mind can reflect. No button is prominent; the screen dissolves on touch.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4773168"/>
            <a:ext cx="2788920" cy="347472"/>
          </a:xfrm>
          <a:prstGeom prst="rect">
            <a:avLst/>
          </a:prstGeom>
          <a:solidFill>
            <a:srgbClr val="EEF4F0"/>
          </a:solidFill>
          <a:ln w="12700">
            <a:solidFill>
              <a:srgbClr val="5F7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" y="479145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5F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psychology principle: visual stillness precedes cognitive readiness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7889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960120"/>
            <a:ext cx="2788920" cy="43891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27832" y="9784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Memory Consent Screen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27832" y="149961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75B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"How should we remember this?"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27832" y="1883664"/>
            <a:ext cx="2468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27832" y="1956816"/>
            <a:ext cx="2633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 A → 'A Continuous Thread'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 B → 'The Present Moment'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Entry: 'Enter the Room'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encryption choice reframed as a relational, therapeutic consent moment.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54680" y="4773168"/>
            <a:ext cx="2788920" cy="347472"/>
          </a:xfrm>
          <a:prstGeom prst="rect">
            <a:avLst/>
          </a:prstGeom>
          <a:solidFill>
            <a:srgbClr val="EEF4F0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479145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 as emotional agency, not cryptographic spec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2788920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D4A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960120"/>
            <a:ext cx="2788920" cy="438912"/>
          </a:xfrm>
          <a:prstGeom prst="rect">
            <a:avLst/>
          </a:prstGeom>
          <a:solidFill>
            <a:srgbClr val="3D4A3A"/>
          </a:solidFill>
          <a:ln w="12700">
            <a:solidFill>
              <a:srgbClr val="3D4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53912" y="9784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Chat as Handwritten Diary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153912" y="149961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4A3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"ARIA IS PRESENT"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53912" y="1883664"/>
            <a:ext cx="24688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1956816"/>
            <a:ext cx="2633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messages in cursive script on cream paper — no chat bubbles. Dr. Aria: left-aligned dark script. User: right-indented light italic. Placeholder: 'Take your time...' Send: 'Share'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avatars, typing indicators, or read receipts.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0760" y="4773168"/>
            <a:ext cx="2788920" cy="347472"/>
          </a:xfrm>
          <a:prstGeom prst="rect">
            <a:avLst/>
          </a:prstGeom>
          <a:solidFill>
            <a:srgbClr val="EEF4F0"/>
          </a:solidFill>
          <a:ln w="12700">
            <a:solidFill>
              <a:srgbClr val="3D4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53912" y="4791456"/>
            <a:ext cx="2633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3D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Low-barrier disclosure environment — relational space, not productivity tool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6263640"/>
            <a:ext cx="9144000" cy="594360"/>
          </a:xfrm>
          <a:prstGeom prst="rect">
            <a:avLst/>
          </a:prstGeom>
          <a:solidFill>
            <a:srgbClr val="5F7A6A"/>
          </a:solidFill>
          <a:ln w="12700">
            <a:solidFill>
              <a:srgbClr val="5F7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29107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Color: warm cream #F5F4EF  ·  Typography: cursive script  ·  No bubbles · No avatars · No read receipts  ·  Low-barrier disclosure environment [Kim et al., 2023]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148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114800" cy="47548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87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11480" y="170992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5727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9-section modular prompt corpus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04672" y="19202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CBT + Humanistic + Psychoanalytic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44144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24414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4672" y="23042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hierarchical memory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" y="265176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Unlimited therapeutic continuity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317296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172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" y="30358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silent crisis detection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4672" y="338328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 Level 3/4 false negatives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90448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904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376732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 AES-256-GCM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" y="411480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Server-Assisted &amp; Zero-Knowledge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463600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6360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4672" y="449884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India-specific AI therapy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" y="484632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Joint family + Hinglish + stigma context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5367528"/>
            <a:ext cx="256032" cy="256032"/>
          </a:xfrm>
          <a:prstGeom prst="ellipse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53675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" y="52303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99/120 = 82.5% scorecard (9 PASS, 3 REVIEW, 0 FAIL)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804672" y="5577840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Median TTFT: 2316 ms · 18.0 tok/s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960120"/>
            <a:ext cx="4114800" cy="4983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60120"/>
            <a:ext cx="4114800" cy="47548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98755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892040" y="1709928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709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85232" y="157276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dependency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85232" y="1920240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Commercial provider — pricing &amp; availability risk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92040" y="2606040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6060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285232" y="24688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RCT clinical validation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285232" y="2816352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PHQ-9 / GAD-7 pre-post study needed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3502152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502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85232" y="336499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recall 0.88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85232" y="3712464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~12% miss rate on lower-level signals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92040" y="4398264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4398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285232" y="426110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interface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285232" y="4608576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Text-only limits accessibility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892040" y="5294376"/>
            <a:ext cx="256032" cy="256032"/>
          </a:xfrm>
          <a:prstGeom prst="ellipse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92040" y="52943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85232" y="51572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licensed therapist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5285232" y="550468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Always communicates AI limitations to users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3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13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Integration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1978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Index psychological literature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evidence-based grounding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82112" y="777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82112" y="777240"/>
            <a:ext cx="2743200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3552" y="813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Interface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73552" y="11978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Audio streaming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naturalness &amp; accessibility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9904" y="77724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0AD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9904" y="777240"/>
            <a:ext cx="2743200" cy="347472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81381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181344" y="119786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React Native for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on-demand access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00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86000"/>
            <a:ext cx="2743200" cy="347472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Evaluation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65760" y="270662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PHQ-9 / GAD-7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pre-post RCT validation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82112" y="2286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D7D3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82112" y="2286000"/>
            <a:ext cx="2743200" cy="347472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73552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73552" y="270662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Tamil · Bengali · Telugu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expansion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9904" y="228600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0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9904" y="2286000"/>
            <a:ext cx="2743200" cy="347472"/>
          </a:xfrm>
          <a:prstGeom prst="rect">
            <a:avLst/>
          </a:prstGeom>
          <a:solidFill>
            <a:srgbClr val="00B0A0"/>
          </a:solidFill>
          <a:ln w="12700">
            <a:solidFill>
              <a:srgbClr val="00B0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1344" y="23225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Therapist API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181344" y="2706624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Licensed therapist escalation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0404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pathway integration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3931920"/>
            <a:ext cx="9144000" cy="29260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023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74320" y="452628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Aria</a:t>
            </a:r>
            <a:endParaRPr lang="en-US" sz="4800" dirty="0"/>
          </a:p>
        </p:txBody>
      </p:sp>
      <p:sp>
        <p:nvSpPr>
          <p:cNvPr id="31" name="Shape 29"/>
          <p:cNvSpPr/>
          <p:nvPr/>
        </p:nvSpPr>
        <p:spPr>
          <a:xfrm>
            <a:off x="3200400" y="5376672"/>
            <a:ext cx="274320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546811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GitHub: github.com/pratik2374/AI-pyschologist  ·  Live: ai-pyschologist.vercel.app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74320" y="59618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Gond (123103006)  ·  Neha Roy (123303002)  ·  Kush Bohare (123103005)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4320" y="63093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DD7E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Department of Computer Science and Engineering  |  NIT Kurukshetra  |  April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Aria — AI-Powered Psychotherapist</dc:title>
  <dc:subject>AI Psychotherapy Research Project</dc:subject>
  <dc:creator>Pratik Gond, Neha Roy, Kush Bohare</dc:creator>
  <cp:lastModifiedBy>Pratik Gond, Neha Roy, Kush Bohare</cp:lastModifiedBy>
  <cp:revision>1</cp:revision>
  <dcterms:created xsi:type="dcterms:W3CDTF">2026-04-27T14:57:08Z</dcterms:created>
  <dcterms:modified xsi:type="dcterms:W3CDTF">2026-04-27T14:57:08Z</dcterms:modified>
</cp:coreProperties>
</file>